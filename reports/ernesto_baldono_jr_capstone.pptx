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70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75A1-7344-01E4-2B9D-5B2D4E479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D7B5E-2E86-4DE8-64CC-84224D9BE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CBC2F-5C72-F923-436B-87A485F1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8622-407C-AEA7-906B-71F9DAC2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ADE59-D9D6-9B9F-60AC-C72A86CF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9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CAA0-637E-1A95-2183-0FD5D68C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3FE2-1683-7CDA-7CD4-3387AF213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2CD2E-2F41-A140-C753-F90025AF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C638B-B361-8E09-A487-1489B3A1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CC018-A327-EBBB-75E6-4D0EF3FB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1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46B4-0B9F-EACE-ED24-0218F809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9813E-77B6-D0AF-544A-8B8C266DC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FAC4E-ABF4-026D-312B-0B9C6F44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091A0-4199-612B-AA88-990B3501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3BD8D-AACC-8FF7-4130-6495F8E0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C218-E16A-A11F-F7DE-377E6EF7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F77C-A778-E37F-EBF5-87B7AABA0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12AD9-007A-0195-0610-D09EBDB17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A7761-D56D-D82E-2225-AEAA9276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55FBE-C235-47E6-EE7F-365DE44D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565CA-A76A-B83D-337E-168F7C9A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7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0044-D171-8C44-D246-9EA35D7B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8871-E7C1-4435-BAA8-91D481173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967C7-C70F-135A-C5ED-2011894DB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76DC8-EFF5-D82D-28C6-7F72709B8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24D41-9462-2077-FBE2-2968E8ABC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E27F4-17B1-3541-6542-F3D05434E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A9BE4F-C9EE-F8D3-59D2-D8A67772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91856-E348-4D0D-5458-4B369D81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0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2D2D-7A88-AEAD-6F19-A4C4462A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DD245-B775-FFAA-41A4-255D5F15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0076C-EE12-DF02-9D33-F4F9D880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15528-6054-69FD-F6E5-47E389BC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3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553AA-DF22-C802-7E01-4B1C54E5D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6729B-6E3E-C778-9A35-B9B4B7C3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0AFE-F860-6105-965C-D583A1EE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66B3-29A4-6702-5CD7-F26DF4D15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AE3F8-2185-9C5F-5142-15FC51535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54390-B786-4B63-D57A-A12CE184A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40251-CC35-7843-4EA7-37291743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F2B8D-CFC5-74E3-1937-D7EDF22A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D0ACC-5CA8-ABCD-1089-937ECC66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0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8167-25D9-CB5A-BC39-ED081F10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A31ED-865A-DF93-678F-9323BE82B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2B2A8-52C3-D559-D8EF-8C2693784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82255-B049-8352-BF52-1F1B5BAD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4431A-B63D-243E-0AB2-6602E5AA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E4573-923D-0E5B-493F-3C2EE9FA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2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5558-DA40-3835-D433-131692B0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07FD2-958F-1399-B412-AF04C03FF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9FE0D-CE8B-D99C-0520-CF3D1A6C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78623-1A56-9FBF-72F1-E2C8E0FC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67F43-EF9B-3327-FDE7-8110C1CE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79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22857-4054-F009-5B4D-6826412CC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1AD14-C37B-FEBC-ABD6-E055B4334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23F2-7421-4CC2-859E-C7C15E39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C255-C902-101C-28B9-6E1306BC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3981D-ED5C-C3ED-6A56-1924F21C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4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568B-8988-2BD5-C519-3708DE1E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F46AA-8E00-0C34-62A4-320C8D2DA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A95FF-3B7E-3F50-D73E-EB944F91A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4308E-D854-44C6-ACAA-C9616C224B0E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424A-9567-F079-FC8B-5341EA447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35175-379B-4B16-2BA6-47C65D3C0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03DFA-066E-4537-915E-504D7061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4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14FC8C-00A1-507F-FA40-0CBC98D705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476" r="147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A741C-15BC-025A-6F11-25262DFE1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4" y="764778"/>
            <a:ext cx="9858375" cy="2387600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chemeClr val="tx2"/>
                </a:solidFill>
                <a:effectLst>
                  <a:glow rad="127000">
                    <a:schemeClr val="bg2">
                      <a:alpha val="60000"/>
                    </a:scheme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Intelligent Credit Card</a:t>
            </a:r>
            <a:br>
              <a:rPr lang="en-US" sz="7200" dirty="0">
                <a:solidFill>
                  <a:schemeClr val="tx2"/>
                </a:solidFill>
                <a:effectLst>
                  <a:glow rad="127000">
                    <a:schemeClr val="bg2">
                      <a:alpha val="60000"/>
                    </a:scheme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7200" dirty="0">
                <a:solidFill>
                  <a:schemeClr val="tx2"/>
                </a:solidFill>
                <a:effectLst>
                  <a:glow rad="127000">
                    <a:schemeClr val="bg2">
                      <a:alpha val="60000"/>
                    </a:scheme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Fraud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8785A-E960-4726-74FA-F02A1A28B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1760" y="3447257"/>
            <a:ext cx="6848475" cy="1131887"/>
          </a:xfrm>
          <a:solidFill>
            <a:schemeClr val="bg2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  <a:t>A Cost-Sensitive AI Approach to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tx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rPr>
              <a:t>Minimizing Financial Risk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EAA110-76A5-8979-2CF1-C8BFAA11D22A}"/>
              </a:ext>
            </a:extLst>
          </p:cNvPr>
          <p:cNvSpPr txBox="1">
            <a:spLocks/>
          </p:cNvSpPr>
          <p:nvPr/>
        </p:nvSpPr>
        <p:spPr>
          <a:xfrm>
            <a:off x="4736302" y="4865290"/>
            <a:ext cx="2719389" cy="504031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2"/>
                </a:solidFill>
                <a:effectLst/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Ernesto C. Baldono Jr.</a:t>
            </a:r>
          </a:p>
        </p:txBody>
      </p:sp>
    </p:spTree>
    <p:extLst>
      <p:ext uri="{BB962C8B-B14F-4D97-AF65-F5344CB8AC3E}">
        <p14:creationId xmlns:p14="http://schemas.microsoft.com/office/powerpoint/2010/main" val="217599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515ED-8692-187D-F9A4-B497BF900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604AA-EBCB-5773-6FB4-AB5335C9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High Cost of Invisible Fraud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5013-F025-E9AA-3E89-DB62DC3F3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3"/>
            <a:ext cx="5257800" cy="908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Imbalance:</a:t>
            </a: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Fraud is rare </a:t>
            </a:r>
            <a:r>
              <a:rPr lang="en-US" sz="24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(0.17%)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but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expensive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50BCC3-A5AA-BF25-87C5-F424C95F3507}"/>
              </a:ext>
            </a:extLst>
          </p:cNvPr>
          <p:cNvSpPr txBox="1">
            <a:spLocks/>
          </p:cNvSpPr>
          <p:nvPr/>
        </p:nvSpPr>
        <p:spPr>
          <a:xfrm>
            <a:off x="838200" y="4257675"/>
            <a:ext cx="5257800" cy="2054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Financial Reality:</a:t>
            </a:r>
            <a:endParaRPr lang="en-US" sz="24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Cost of Missed Fraud: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~$122 </a:t>
            </a:r>
            <a:r>
              <a:rPr lang="en-US" sz="24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(Direct Loss)</a:t>
            </a: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Cost of False Alarm: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~$2</a:t>
            </a:r>
            <a:r>
              <a:rPr lang="en-US" sz="24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(Admin Cost)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F57A13-79EB-44BD-F934-832F09A37800}"/>
              </a:ext>
            </a:extLst>
          </p:cNvPr>
          <p:cNvSpPr txBox="1">
            <a:spLocks/>
          </p:cNvSpPr>
          <p:nvPr/>
        </p:nvSpPr>
        <p:spPr>
          <a:xfrm>
            <a:off x="838200" y="2734466"/>
            <a:ext cx="5257800" cy="1385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“Accuracy Trap”:</a:t>
            </a: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 standard system can have 99.8% accuracy and still catch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ZERO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fraud.</a:t>
            </a:r>
          </a:p>
        </p:txBody>
      </p:sp>
      <p:pic>
        <p:nvPicPr>
          <p:cNvPr id="1030" name="Picture 6" descr="64,100+ Balance Scale Stock Illustrations, Royalty-Free Vector Graphics &amp;  Clip Art - iStock | Weight loss, Balance, Balance scale isolated">
            <a:extLst>
              <a:ext uri="{FF2B5EF4-FFF2-40B4-BE49-F238E27FC236}">
                <a16:creationId xmlns:a16="http://schemas.microsoft.com/office/drawing/2014/main" id="{750AB8C4-C364-A0AD-01DD-D9C254961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19449"/>
            <a:ext cx="58293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1B841C5-4233-7E68-770C-E94A374910E6}"/>
              </a:ext>
            </a:extLst>
          </p:cNvPr>
          <p:cNvSpPr txBox="1">
            <a:spLocks/>
          </p:cNvSpPr>
          <p:nvPr/>
        </p:nvSpPr>
        <p:spPr>
          <a:xfrm>
            <a:off x="6411567" y="3675857"/>
            <a:ext cx="1732722" cy="116363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rPr>
              <a:t>MISSED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rPr>
              <a:t>FRAUD</a:t>
            </a:r>
            <a:endParaRPr lang="en-US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FFD58C-D74C-13F1-5062-AA389141FE97}"/>
              </a:ext>
            </a:extLst>
          </p:cNvPr>
          <p:cNvSpPr txBox="1">
            <a:spLocks/>
          </p:cNvSpPr>
          <p:nvPr/>
        </p:nvSpPr>
        <p:spPr>
          <a:xfrm>
            <a:off x="9833941" y="2819400"/>
            <a:ext cx="1732722" cy="116363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rPr>
              <a:t>FALSE ALARM</a:t>
            </a:r>
            <a:endParaRPr lang="en-US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OLD" panose="020B08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67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6871-0210-9E7F-2AAE-5D56292D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85F904-F67E-3D94-DC36-94B3C14FF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79D2C2-EFFD-02C3-114D-B46168FE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Beyond Accuracy: Cost-Sensitive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9DB8-9A2A-1FDA-61E8-A57A57A21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3"/>
            <a:ext cx="5257800" cy="908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Objective: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Maximize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Net Savings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7FF2A2-E654-7279-B3F7-A9852C912346}"/>
              </a:ext>
            </a:extLst>
          </p:cNvPr>
          <p:cNvSpPr txBox="1">
            <a:spLocks/>
          </p:cNvSpPr>
          <p:nvPr/>
        </p:nvSpPr>
        <p:spPr>
          <a:xfrm>
            <a:off x="838200" y="4119167"/>
            <a:ext cx="5257800" cy="2054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Privacy-First:</a:t>
            </a:r>
            <a:endParaRPr lang="en-US" sz="24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Utilized anonymized PCA data to detect </a:t>
            </a:r>
            <a:r>
              <a:rPr 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behavioral anomalies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rather than relying on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Personally Identifiable Information</a:t>
            </a:r>
            <a:endParaRPr lang="en-US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1A8B7F-E741-1B9A-48B3-6C1FD60175CE}"/>
              </a:ext>
            </a:extLst>
          </p:cNvPr>
          <p:cNvSpPr txBox="1">
            <a:spLocks/>
          </p:cNvSpPr>
          <p:nvPr/>
        </p:nvSpPr>
        <p:spPr>
          <a:xfrm>
            <a:off x="838200" y="2386016"/>
            <a:ext cx="5257800" cy="166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Engine:</a:t>
            </a: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Tested 4 Algorithms</a:t>
            </a:r>
          </a:p>
          <a:p>
            <a:pPr marL="0" indent="0"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(Logistic Regression vs. Random Forest vs.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vs. Neural Network (MLP)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1DE5BE6-81A2-46DF-0CBF-27476CF75B87}"/>
              </a:ext>
            </a:extLst>
          </p:cNvPr>
          <p:cNvSpPr txBox="1">
            <a:spLocks/>
          </p:cNvSpPr>
          <p:nvPr/>
        </p:nvSpPr>
        <p:spPr>
          <a:xfrm>
            <a:off x="6961533" y="2788842"/>
            <a:ext cx="1818033" cy="8961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i="1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rPr>
              <a:t>vs</a:t>
            </a:r>
            <a:endParaRPr lang="en-US" sz="2400" i="1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BOLD" panose="020B0802040204020203" pitchFamily="34" charset="0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4383706-821A-11E6-DDB4-E9B2A8710E5E}"/>
              </a:ext>
            </a:extLst>
          </p:cNvPr>
          <p:cNvSpPr/>
          <p:nvPr/>
        </p:nvSpPr>
        <p:spPr>
          <a:xfrm>
            <a:off x="8587409" y="5021533"/>
            <a:ext cx="1314450" cy="692546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DB51B6-57D4-3844-E239-E60D4DA70CA1}"/>
              </a:ext>
            </a:extLst>
          </p:cNvPr>
          <p:cNvGrpSpPr/>
          <p:nvPr/>
        </p:nvGrpSpPr>
        <p:grpSpPr>
          <a:xfrm>
            <a:off x="6716368" y="1543120"/>
            <a:ext cx="5056532" cy="3317081"/>
            <a:chOff x="6638925" y="1712119"/>
            <a:chExt cx="5056532" cy="3317081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CEE1B428-D873-A994-C82F-83CFCAF229A3}"/>
                </a:ext>
              </a:extLst>
            </p:cNvPr>
            <p:cNvSpPr txBox="1">
              <a:spLocks/>
            </p:cNvSpPr>
            <p:nvPr/>
          </p:nvSpPr>
          <p:spPr>
            <a:xfrm>
              <a:off x="6638925" y="1712119"/>
              <a:ext cx="5056532" cy="331708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endParaRP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36E12BE2-23E7-3729-E83E-F57212F068BC}"/>
                </a:ext>
              </a:extLst>
            </p:cNvPr>
            <p:cNvSpPr txBox="1">
              <a:spLocks/>
            </p:cNvSpPr>
            <p:nvPr/>
          </p:nvSpPr>
          <p:spPr>
            <a:xfrm>
              <a:off x="6906866" y="2005909"/>
              <a:ext cx="1818033" cy="89614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i="1" dirty="0">
                  <a:solidFill>
                    <a:schemeClr val="tx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OLD" panose="020B0802040204020203" pitchFamily="34" charset="0"/>
                </a:rPr>
                <a:t>Logistic Regression</a:t>
              </a:r>
              <a:endParaRPr lang="en-US" sz="2400" i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endParaRP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3FC4EAF-623B-7690-BF29-868660BAFA67}"/>
                </a:ext>
              </a:extLst>
            </p:cNvPr>
            <p:cNvSpPr txBox="1">
              <a:spLocks/>
            </p:cNvSpPr>
            <p:nvPr/>
          </p:nvSpPr>
          <p:spPr>
            <a:xfrm>
              <a:off x="9590432" y="2008783"/>
              <a:ext cx="1818033" cy="89614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i="1" dirty="0">
                  <a:solidFill>
                    <a:schemeClr val="tx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OLD" panose="020B0802040204020203" pitchFamily="34" charset="0"/>
                </a:rPr>
                <a:t>Random Forest</a:t>
              </a:r>
              <a:endParaRPr lang="en-US" sz="2400" i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endParaRP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5B704BE6-3CD0-3BE7-0618-D5F68CFCCEE2}"/>
                </a:ext>
              </a:extLst>
            </p:cNvPr>
            <p:cNvSpPr txBox="1">
              <a:spLocks/>
            </p:cNvSpPr>
            <p:nvPr/>
          </p:nvSpPr>
          <p:spPr>
            <a:xfrm>
              <a:off x="6906866" y="3955949"/>
              <a:ext cx="1818033" cy="89614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i="1" dirty="0" err="1">
                  <a:solidFill>
                    <a:schemeClr val="tx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OLD" panose="020B0802040204020203" pitchFamily="34" charset="0"/>
                </a:rPr>
                <a:t>XGBoost</a:t>
              </a:r>
              <a:endParaRPr lang="en-US" i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endParaRP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C312EE64-0169-4C2E-BBE7-70E4DDF398C9}"/>
                </a:ext>
              </a:extLst>
            </p:cNvPr>
            <p:cNvSpPr txBox="1">
              <a:spLocks/>
            </p:cNvSpPr>
            <p:nvPr/>
          </p:nvSpPr>
          <p:spPr>
            <a:xfrm>
              <a:off x="9590432" y="3955948"/>
              <a:ext cx="1818033" cy="896143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i="1" dirty="0">
                  <a:solidFill>
                    <a:schemeClr val="tx2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OLD" panose="020B0802040204020203" pitchFamily="34" charset="0"/>
                </a:rPr>
                <a:t>Neural Network</a:t>
              </a:r>
              <a:endParaRPr lang="en-US" sz="2400" i="1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OLD" panose="020B0802040204020203" pitchFamily="34" charset="0"/>
              </a:endParaRPr>
            </a:p>
          </p:txBody>
        </p:sp>
        <p:sp>
          <p:nvSpPr>
            <p:cNvPr id="19" name="Arrow: Left-Right 18">
              <a:extLst>
                <a:ext uri="{FF2B5EF4-FFF2-40B4-BE49-F238E27FC236}">
                  <a16:creationId xmlns:a16="http://schemas.microsoft.com/office/drawing/2014/main" id="{1636631A-C288-1BB8-0ABA-5EBC79A02C2A}"/>
                </a:ext>
              </a:extLst>
            </p:cNvPr>
            <p:cNvSpPr/>
            <p:nvPr/>
          </p:nvSpPr>
          <p:spPr>
            <a:xfrm>
              <a:off x="8771281" y="2186885"/>
              <a:ext cx="772768" cy="534192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Left-Right 19">
              <a:extLst>
                <a:ext uri="{FF2B5EF4-FFF2-40B4-BE49-F238E27FC236}">
                  <a16:creationId xmlns:a16="http://schemas.microsoft.com/office/drawing/2014/main" id="{35BCD863-9005-F18C-483E-856416CE6D5F}"/>
                </a:ext>
              </a:extLst>
            </p:cNvPr>
            <p:cNvSpPr/>
            <p:nvPr/>
          </p:nvSpPr>
          <p:spPr>
            <a:xfrm>
              <a:off x="8771281" y="4136923"/>
              <a:ext cx="772768" cy="534192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Left-Right 20">
              <a:extLst>
                <a:ext uri="{FF2B5EF4-FFF2-40B4-BE49-F238E27FC236}">
                  <a16:creationId xmlns:a16="http://schemas.microsoft.com/office/drawing/2014/main" id="{62C869D5-20C4-8839-311C-99C284313B68}"/>
                </a:ext>
              </a:extLst>
            </p:cNvPr>
            <p:cNvSpPr/>
            <p:nvPr/>
          </p:nvSpPr>
          <p:spPr>
            <a:xfrm rot="5400000">
              <a:off x="7484165" y="3135710"/>
              <a:ext cx="772768" cy="534192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Left-Right 21">
              <a:extLst>
                <a:ext uri="{FF2B5EF4-FFF2-40B4-BE49-F238E27FC236}">
                  <a16:creationId xmlns:a16="http://schemas.microsoft.com/office/drawing/2014/main" id="{DED53D94-376F-A182-F986-1751DCF2791D}"/>
                </a:ext>
              </a:extLst>
            </p:cNvPr>
            <p:cNvSpPr/>
            <p:nvPr/>
          </p:nvSpPr>
          <p:spPr>
            <a:xfrm rot="5400000">
              <a:off x="10113064" y="3135710"/>
              <a:ext cx="772768" cy="534192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bbon: Tilted Up 24">
            <a:extLst>
              <a:ext uri="{FF2B5EF4-FFF2-40B4-BE49-F238E27FC236}">
                <a16:creationId xmlns:a16="http://schemas.microsoft.com/office/drawing/2014/main" id="{BC4AEA5F-B3B0-1B1C-B9FA-4CF252FEA2C8}"/>
              </a:ext>
            </a:extLst>
          </p:cNvPr>
          <p:cNvSpPr/>
          <p:nvPr/>
        </p:nvSpPr>
        <p:spPr>
          <a:xfrm>
            <a:off x="7645059" y="5896840"/>
            <a:ext cx="3180098" cy="6998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BEST MODEL</a:t>
            </a:r>
          </a:p>
        </p:txBody>
      </p:sp>
    </p:spTree>
    <p:extLst>
      <p:ext uri="{BB962C8B-B14F-4D97-AF65-F5344CB8AC3E}">
        <p14:creationId xmlns:p14="http://schemas.microsoft.com/office/powerpoint/2010/main" val="969191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A751-FA7F-3982-0810-8BB2BB25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F77C61-7777-9674-CB8E-56F638E861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60CC63-1B53-4D00-11FA-D5D7415A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Benchmarking Performance:</a:t>
            </a:r>
            <a:br>
              <a:rPr lang="en-US" sz="4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0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“Algorithm Battle”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8DD0FC-D88D-38C4-F657-A6D54AE6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912" y="1861720"/>
            <a:ext cx="6128176" cy="1789913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6AC6DF-11E2-9E49-41A4-C90BD74C0866}"/>
              </a:ext>
            </a:extLst>
          </p:cNvPr>
          <p:cNvSpPr txBox="1">
            <a:spLocks/>
          </p:cNvSpPr>
          <p:nvPr/>
        </p:nvSpPr>
        <p:spPr>
          <a:xfrm>
            <a:off x="838200" y="3977301"/>
            <a:ext cx="10715625" cy="851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Baseline: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Logistic Regression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provided a fast reference point but struggled to capture complex, non-linear fraud patterns.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BD5155C-02D0-D4BA-B13A-1C86C8FBA576}"/>
              </a:ext>
            </a:extLst>
          </p:cNvPr>
          <p:cNvSpPr txBox="1">
            <a:spLocks/>
          </p:cNvSpPr>
          <p:nvPr/>
        </p:nvSpPr>
        <p:spPr>
          <a:xfrm>
            <a:off x="838199" y="4822645"/>
            <a:ext cx="10715625" cy="851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“Deep Learning” Tradeoff: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The Neural Network (MLP)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showed promise but required significantly higher training time for only marginal gains.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6A480FB-E120-5A70-EF92-3CBADA0F69C1}"/>
              </a:ext>
            </a:extLst>
          </p:cNvPr>
          <p:cNvSpPr txBox="1">
            <a:spLocks/>
          </p:cNvSpPr>
          <p:nvPr/>
        </p:nvSpPr>
        <p:spPr>
          <a:xfrm>
            <a:off x="838199" y="5667989"/>
            <a:ext cx="10715625" cy="851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The Ensemble: 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Random Forest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dominated the leaderboard, proving that “ensemble” methods (combining multiple decisions) are superior for tabular financial data.</a:t>
            </a:r>
          </a:p>
        </p:txBody>
      </p:sp>
    </p:spTree>
    <p:extLst>
      <p:ext uri="{BB962C8B-B14F-4D97-AF65-F5344CB8AC3E}">
        <p14:creationId xmlns:p14="http://schemas.microsoft.com/office/powerpoint/2010/main" val="365383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4528-B416-0D73-B501-9798BE24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A03401-DD62-AF02-9A9D-B82E9E62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D71BAE-A55B-6AED-B304-7816F2AF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Winning Architecture: </a:t>
            </a:r>
            <a:r>
              <a:rPr lang="en-US" dirty="0" err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XGBoost</a:t>
            </a:r>
            <a:endParaRPr lang="en-US" dirty="0">
              <a:solidFill>
                <a:schemeClr val="tx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E92E-6F8D-6539-9B18-3BF55586D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3"/>
            <a:ext cx="4352925" cy="459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Key Metrics: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3D28316-7629-17AE-50D1-B5EF6E085933}"/>
              </a:ext>
            </a:extLst>
          </p:cNvPr>
          <p:cNvSpPr txBox="1">
            <a:spLocks/>
          </p:cNvSpPr>
          <p:nvPr/>
        </p:nvSpPr>
        <p:spPr>
          <a:xfrm>
            <a:off x="838199" y="2162178"/>
            <a:ext cx="5133975" cy="1123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Recall (Fraud Caught):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86.32%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(The priority metric).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9BAFFAC-DD83-E158-ABBF-26273012980E}"/>
              </a:ext>
            </a:extLst>
          </p:cNvPr>
          <p:cNvSpPr txBox="1">
            <a:spLocks/>
          </p:cNvSpPr>
          <p:nvPr/>
        </p:nvSpPr>
        <p:spPr>
          <a:xfrm>
            <a:off x="838199" y="3286126"/>
            <a:ext cx="5133975" cy="1123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AUPRC Score: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0.8358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(High reliability on rare events).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5D5AAF0-32D7-1B09-7C52-1BE94AA71912}"/>
              </a:ext>
            </a:extLst>
          </p:cNvPr>
          <p:cNvSpPr txBox="1">
            <a:spLocks/>
          </p:cNvSpPr>
          <p:nvPr/>
        </p:nvSpPr>
        <p:spPr>
          <a:xfrm>
            <a:off x="819149" y="4510088"/>
            <a:ext cx="5133975" cy="1123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i="1" dirty="0">
                <a:latin typeface="Segoe UI" panose="020B0502040204020203" pitchFamily="34" charset="0"/>
                <a:cs typeface="Segoe UI" panose="020B0502040204020203" pitchFamily="34" charset="0"/>
              </a:rPr>
              <a:t>Inference Speed: 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0.91 sec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(Real-time ready).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7B59DD-13CC-B2C3-38A1-510456A06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50" y="1553322"/>
            <a:ext cx="4419600" cy="493955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FBE4E28-B828-3354-C9FB-0869D50E76FB}"/>
              </a:ext>
            </a:extLst>
          </p:cNvPr>
          <p:cNvSpPr/>
          <p:nvPr/>
        </p:nvSpPr>
        <p:spPr>
          <a:xfrm>
            <a:off x="9210675" y="4100927"/>
            <a:ext cx="2200276" cy="2391948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7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1E2C-F944-6E84-A4EF-A44EE029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4FBE22-059A-B73F-E464-BFEC64098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C8E2E1-0989-3906-15A3-47B25EB0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Turning Potential Loss into Savings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9F68C4-C8A9-8953-8113-EBD345A39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00" y="1587500"/>
            <a:ext cx="7045256" cy="4905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108333-C6E3-858A-C819-C0CB223E4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456" y="1587500"/>
            <a:ext cx="3778444" cy="149232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D22F04-0814-598E-989B-92DCB3C73CDC}"/>
              </a:ext>
            </a:extLst>
          </p:cNvPr>
          <p:cNvSpPr txBox="1">
            <a:spLocks/>
          </p:cNvSpPr>
          <p:nvPr/>
        </p:nvSpPr>
        <p:spPr>
          <a:xfrm>
            <a:off x="7957978" y="3407210"/>
            <a:ext cx="3851400" cy="173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Green Bar: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$9,717.33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saved!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ROI: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3,196%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on operational spend.</a:t>
            </a:r>
          </a:p>
          <a:p>
            <a:pPr marL="0" indent="0">
              <a:buNone/>
            </a:pPr>
            <a:r>
              <a:rPr lang="en-US" sz="1800" b="1" i="1" dirty="0">
                <a:latin typeface="Segoe UI" panose="020B0502040204020203" pitchFamily="34" charset="0"/>
                <a:cs typeface="Segoe UI" panose="020B0502040204020203" pitchFamily="34" charset="0"/>
              </a:rPr>
              <a:t>Cost-Benefit Ratio: 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31.96x</a:t>
            </a:r>
            <a:endParaRPr lang="en-US" sz="20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(For every $1 spent, we save $31.96.)</a:t>
            </a:r>
          </a:p>
        </p:txBody>
      </p:sp>
    </p:spTree>
    <p:extLst>
      <p:ext uri="{BB962C8B-B14F-4D97-AF65-F5344CB8AC3E}">
        <p14:creationId xmlns:p14="http://schemas.microsoft.com/office/powerpoint/2010/main" val="258470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E444-CE63-CBF6-FD33-9C0D9711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7D5241-4FA2-B1F6-7F0B-314AD45375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CFBCD1-FE78-B388-0ACA-B257B7A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No “Black Boxes”: Explaining the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18295-C79A-B624-ABDB-39DFC4DC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042" y="1482725"/>
            <a:ext cx="4049738" cy="50101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BB5D1-2B5B-1015-BCC7-E22D5262E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2"/>
            <a:ext cx="5257800" cy="1831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Audit:</a:t>
            </a:r>
          </a:p>
          <a:p>
            <a:pPr marL="0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Verified that the model uses behavior (V1-V28), and not just wealth (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scaled_amount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B218A0-CD22-EE6A-8D28-994D42376AC5}"/>
              </a:ext>
            </a:extLst>
          </p:cNvPr>
          <p:cNvSpPr txBox="1">
            <a:spLocks/>
          </p:cNvSpPr>
          <p:nvPr/>
        </p:nvSpPr>
        <p:spPr>
          <a:xfrm>
            <a:off x="838200" y="3514725"/>
            <a:ext cx="5257800" cy="1831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Compliance: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Fully interpretable decisions for regulatory audits.</a:t>
            </a:r>
          </a:p>
        </p:txBody>
      </p:sp>
    </p:spTree>
    <p:extLst>
      <p:ext uri="{BB962C8B-B14F-4D97-AF65-F5344CB8AC3E}">
        <p14:creationId xmlns:p14="http://schemas.microsoft.com/office/powerpoint/2010/main" val="15823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7C43-0E61-AEEC-9455-58FE937D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D2FC4D-72BD-D3FA-BC2B-9FAAF2A95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B3D98-67D7-4192-9113-399A0D8C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Production-Ready Architecture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7F1371-51B3-F511-BEA6-618CF8DFE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3"/>
            <a:ext cx="10210800" cy="773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Reproducibility: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Pipeline includes Scalers, Thresholds, and Metadata.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128D-F139-7493-8DBB-10DBA9064563}"/>
              </a:ext>
            </a:extLst>
          </p:cNvPr>
          <p:cNvSpPr txBox="1">
            <a:spLocks/>
          </p:cNvSpPr>
          <p:nvPr/>
        </p:nvSpPr>
        <p:spPr>
          <a:xfrm>
            <a:off x="838200" y="2235198"/>
            <a:ext cx="10210800" cy="77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Latency: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Optimized for sub-second decision making.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220D9F-20CE-297E-3318-28E0FA47E6BC}"/>
              </a:ext>
            </a:extLst>
          </p:cNvPr>
          <p:cNvSpPr txBox="1">
            <a:spLocks/>
          </p:cNvSpPr>
          <p:nvPr/>
        </p:nvSpPr>
        <p:spPr>
          <a:xfrm>
            <a:off x="838200" y="2779708"/>
            <a:ext cx="10210800" cy="77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Robustness: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Fail-safe data loading and error handling.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637BBD-845A-EE99-1370-08146A0BCA63}"/>
              </a:ext>
            </a:extLst>
          </p:cNvPr>
          <p:cNvSpPr/>
          <p:nvPr/>
        </p:nvSpPr>
        <p:spPr>
          <a:xfrm>
            <a:off x="838200" y="3508376"/>
            <a:ext cx="2724150" cy="48577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Segoe UI Variable Display" pitchFamily="2" charset="0"/>
              </a:rPr>
              <a:t>Raw Transactions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3A159-6E3C-6CAC-FA4B-A3476632FB80}"/>
              </a:ext>
            </a:extLst>
          </p:cNvPr>
          <p:cNvSpPr/>
          <p:nvPr/>
        </p:nvSpPr>
        <p:spPr>
          <a:xfrm>
            <a:off x="2800350" y="4300143"/>
            <a:ext cx="3295650" cy="48577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Segoe UI Variable Display" pitchFamily="2" charset="0"/>
              </a:rPr>
              <a:t>Preprocessor (Scaler)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1B987A-6512-9D94-04D1-998AA12C83DB}"/>
              </a:ext>
            </a:extLst>
          </p:cNvPr>
          <p:cNvSpPr/>
          <p:nvPr/>
        </p:nvSpPr>
        <p:spPr>
          <a:xfrm>
            <a:off x="5943600" y="5036159"/>
            <a:ext cx="1743075" cy="48577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Segoe UI Variable Display" pitchFamily="2" charset="0"/>
              </a:rPr>
              <a:t>AI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90F1A1-3ABC-57D0-3A0A-A277E0D45A16}"/>
              </a:ext>
            </a:extLst>
          </p:cNvPr>
          <p:cNvSpPr/>
          <p:nvPr/>
        </p:nvSpPr>
        <p:spPr>
          <a:xfrm>
            <a:off x="7934325" y="5743971"/>
            <a:ext cx="3505200" cy="48577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Segoe UI Variable Display" pitchFamily="2" charset="0"/>
              </a:rPr>
              <a:t>Decision (Block/Allow)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F13650D-B415-B9D5-38C8-DC2188461B3B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2225872" y="3968553"/>
            <a:ext cx="548880" cy="600075"/>
          </a:xfrm>
          <a:prstGeom prst="bentConnector2">
            <a:avLst/>
          </a:prstGeom>
          <a:ln w="57150"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B8B7EA5-F53E-4105-F62F-0A51D085C686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4949323" y="4284769"/>
            <a:ext cx="493129" cy="1495425"/>
          </a:xfrm>
          <a:prstGeom prst="bentConnector2">
            <a:avLst/>
          </a:prstGeom>
          <a:ln w="57150"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FF7CD61-558F-3340-71BD-204D524773DD}"/>
              </a:ext>
            </a:extLst>
          </p:cNvPr>
          <p:cNvCxnSpPr>
            <a:cxnSpLocks/>
            <a:stCxn id="11" idx="2"/>
            <a:endCxn id="12" idx="1"/>
          </p:cNvCxnSpPr>
          <p:nvPr/>
        </p:nvCxnSpPr>
        <p:spPr>
          <a:xfrm rot="16200000" flipH="1">
            <a:off x="7142269" y="5194802"/>
            <a:ext cx="464925" cy="1119187"/>
          </a:xfrm>
          <a:prstGeom prst="bentConnector2">
            <a:avLst/>
          </a:prstGeom>
          <a:ln w="57150">
            <a:solidFill>
              <a:srgbClr val="C00000"/>
            </a:solidFill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3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050C-362F-ADFA-5BCC-2C2CB691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423B47-9945-DFC5-6DDA-F5E1C4DDE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8" b="33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ACF314-D5C5-86DE-F888-FA2EEDEC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SUMMARY &amp; RECOMMENDATION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2D8C97-02E4-97DA-337E-E9CB52BA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543"/>
            <a:ext cx="10210800" cy="773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Problem Solved: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Addressed the </a:t>
            </a:r>
            <a:r>
              <a:rPr lang="en-US" sz="24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$122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(missed fraud) vs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$2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(admin) cost imbalance.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D35CF-138E-C15F-7522-A40D4EB35BC1}"/>
              </a:ext>
            </a:extLst>
          </p:cNvPr>
          <p:cNvSpPr txBox="1">
            <a:spLocks/>
          </p:cNvSpPr>
          <p:nvPr/>
        </p:nvSpPr>
        <p:spPr>
          <a:xfrm>
            <a:off x="838200" y="2588418"/>
            <a:ext cx="10210800" cy="77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Value Delivered: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Estimated Net Savings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$9,717.33</a:t>
            </a:r>
            <a:r>
              <a:rPr lang="en-US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0653BD-D2CC-CAE5-F9CF-F590CAFDFB99}"/>
              </a:ext>
            </a:extLst>
          </p:cNvPr>
          <p:cNvSpPr txBox="1">
            <a:spLocks/>
          </p:cNvSpPr>
          <p:nvPr/>
        </p:nvSpPr>
        <p:spPr>
          <a:xfrm>
            <a:off x="838200" y="3493293"/>
            <a:ext cx="10210800" cy="77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dirty="0">
                <a:latin typeface="Segoe UI" panose="020B0502040204020203" pitchFamily="34" charset="0"/>
                <a:cs typeface="Segoe UI" panose="020B0502040204020203" pitchFamily="34" charset="0"/>
              </a:rPr>
              <a:t>Risk Managed: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Audited for bias and stability.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B28A3E-8189-35E2-368A-5ADA2CFFA685}"/>
              </a:ext>
            </a:extLst>
          </p:cNvPr>
          <p:cNvSpPr txBox="1">
            <a:spLocks/>
          </p:cNvSpPr>
          <p:nvPr/>
        </p:nvSpPr>
        <p:spPr>
          <a:xfrm>
            <a:off x="838200" y="5289160"/>
            <a:ext cx="10915650" cy="1054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Recommendation: </a:t>
            </a: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Proceed to Pilot Deployment.</a:t>
            </a:r>
            <a:endParaRPr lang="en-US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7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436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Segoe UI Black</vt:lpstr>
      <vt:lpstr>Segoe UI Semibold</vt:lpstr>
      <vt:lpstr>Segoe UI Variable Display</vt:lpstr>
      <vt:lpstr>Office Theme</vt:lpstr>
      <vt:lpstr>Intelligent Credit Card Fraud Detection System</vt:lpstr>
      <vt:lpstr>The High Cost of Invisible Fraud</vt:lpstr>
      <vt:lpstr>Beyond Accuracy: Cost-Sensitive</vt:lpstr>
      <vt:lpstr>Benchmarking Performance: The “Algorithm Battle”</vt:lpstr>
      <vt:lpstr>Winning Architecture: XGBoost</vt:lpstr>
      <vt:lpstr>Turning Potential Loss into Savings</vt:lpstr>
      <vt:lpstr>No “Black Boxes”: Explaining the Decisions</vt:lpstr>
      <vt:lpstr>Production-Ready Architecture</vt:lpstr>
      <vt:lpstr>SUMMARY &amp;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J.R. Baldono | Industrias Services Group</dc:creator>
  <cp:lastModifiedBy>J.R. Baldono | Industrias Services Group</cp:lastModifiedBy>
  <cp:revision>13</cp:revision>
  <dcterms:created xsi:type="dcterms:W3CDTF">2026-01-15T09:37:55Z</dcterms:created>
  <dcterms:modified xsi:type="dcterms:W3CDTF">2026-01-17T11:44:14Z</dcterms:modified>
</cp:coreProperties>
</file>